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7d0305da2_2_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g3e7d0305da2_2_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" name="Google Shape;12;g3e7d0305da2_2_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e7d0305da2_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e7d0305da2_2_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g3e7d0305da2_2_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7d0305da2_2_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e7d0305da2_2_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7d0305da2_2_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7d0305da2_2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e7d0305da2_2_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g3e7d0305da2_2_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7d0305da2_2_1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7d0305da2_2_1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e7d0305da2_2_1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d0305da2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e7d0305da2_2_1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e7d0305da2_2_1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7d0305da2_2_1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e7d0305da2_2_1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e7d0305da2_2_1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7d0305da2_0_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7d0305da2_0_1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e7d0305da2_0_1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788490cf_0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0788490cf_0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e0788490cf_0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076ab3fbd_0_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076ab3fbd_0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e076ab3fbd_0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788490cf_0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0788490cf_0_2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e0788490cf_0_2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0788490cf_0_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0788490cf_0_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e0788490cf_0_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0788490cf_0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e0788490cf_0_8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e0788490cf_0_8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0788490cf_0_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e0788490cf_0_5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e0788490cf_0_5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d0305da2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7d0305da2_2_1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e7d0305da2_2_1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0788490cf_0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0788490cf_0_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e0788490cf_0_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d0305da2_2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e7d0305da2_2_1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e7d0305da2_2_1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7d0305da2_2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7d0305da2_2_20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e7d0305da2_2_20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0788490cf_0_1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0788490cf_0_18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e0788490cf_0_18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0788490cf_0_2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e0788490cf_0_2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e0788490cf_0_2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0788490cf_0_2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0788490cf_0_2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e0788490cf_0_2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0788490cf_0_2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e0788490cf_0_2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e0788490cf_0_2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0788490cf_0_2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0788490cf_0_2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e0788490cf_0_2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0788490cf_0_1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e0788490cf_0_1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e0788490cf_0_1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7d0305da2_2_2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e7d0305da2_2_2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e7d0305da2_2_2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7d0305da2_2_2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7d0305da2_2_2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g3e7d0305da2_2_2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7d0305da2_2_2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e7d0305da2_2_2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e7d0305da2_2_2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7d0305da2_2_3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7d0305da2_2_3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e7d0305da2_2_3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7d0305da2_2_3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e7d0305da2_2_3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g3e7d0305da2_2_3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3C47D"/>
          </a:solidFill>
          <a:ln cap="flat" cmpd="sng" w="12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0" y="85209"/>
            <a:ext cx="5943600" cy="4997100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0F1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943600" y="73206"/>
            <a:ext cx="3200400" cy="4997100"/>
          </a:xfrm>
          <a:prstGeom prst="rect">
            <a:avLst/>
          </a:prstGeom>
          <a:solidFill>
            <a:srgbClr val="073763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005840"/>
            <a:ext cx="64008" cy="2377440"/>
          </a:xfrm>
          <a:prstGeom prst="rect">
            <a:avLst/>
          </a:prstGeom>
          <a:solidFill>
            <a:srgbClr val="93C47D"/>
          </a:solidFill>
          <a:ln cap="flat" cmpd="sng" w="12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914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GIS-optimized last-mile parcel locker network design for a city: </a:t>
            </a:r>
            <a:endParaRPr b="1"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1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A Multi-Objective Approach</a:t>
            </a:r>
            <a:endParaRPr b="1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9776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F0"/>
              </a:buClr>
              <a:buSzPts val="1300"/>
              <a:buFont typeface="Times New Roman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</a:rPr>
              <a:t>BTech Project Part</a:t>
            </a:r>
            <a:r>
              <a:rPr b="1" lang="en-GB" sz="1300">
                <a:solidFill>
                  <a:schemeClr val="dk1"/>
                </a:solidFill>
              </a:rPr>
              <a:t> 1</a:t>
            </a:r>
            <a:r>
              <a:rPr b="1" i="0" lang="en-GB" sz="1300" u="none" cap="none" strike="noStrike">
                <a:solidFill>
                  <a:schemeClr val="dk1"/>
                </a:solidFill>
              </a:rPr>
              <a:t> |  ME3099E</a:t>
            </a:r>
            <a:endParaRPr b="1"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27939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F0"/>
              </a:buClr>
              <a:buSzPts val="1300"/>
              <a:buFont typeface="Times New Roman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</a:rPr>
              <a:t>NIT Calicut  |  March 2026</a:t>
            </a:r>
            <a:endParaRPr b="1"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126480" y="1305725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Times New Roman"/>
              <a:buNone/>
            </a:pPr>
            <a:r>
              <a:rPr b="1" i="0" lang="en-GB" sz="14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4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126480" y="180864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Wadje Rushikesh Govindrao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126480" y="2084443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Raihan S Basheer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126480" y="2398041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 Sinoy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126480" y="2692539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Muhammed N V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126480" y="3408845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Times New Roman"/>
              <a:buNone/>
            </a:pPr>
            <a:r>
              <a:rPr b="1" i="0" lang="en-GB" sz="14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14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126480" y="3728885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Vinay V Panicker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126480" y="4231805"/>
            <a:ext cx="2651700" cy="9000"/>
          </a:xfrm>
          <a:prstGeom prst="rect">
            <a:avLst/>
          </a:prstGeom>
          <a:solidFill>
            <a:srgbClr val="5A6A82"/>
          </a:solidFill>
          <a:ln cap="flat" cmpd="sng" w="12700">
            <a:solidFill>
              <a:srgbClr val="5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62525" y="1231525"/>
            <a:ext cx="80457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chemeClr val="dk1"/>
                </a:solidFill>
              </a:rPr>
              <a:t>Major Literature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chemeClr val="dk1"/>
                </a:solidFill>
              </a:rPr>
              <a:t>Results Obtained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chemeClr val="dk1"/>
                </a:solidFill>
              </a:rPr>
              <a:t>Conclusion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GB" sz="2000">
                <a:solidFill>
                  <a:schemeClr val="dk1"/>
                </a:solidFill>
              </a:rPr>
              <a:t>Future expansions planned</a:t>
            </a:r>
            <a:endParaRPr i="0" sz="1900" u="none" cap="none" strike="noStrike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6AA84F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868680"/>
            <a:ext cx="3840600" cy="3749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617720" y="868680"/>
            <a:ext cx="4069200" cy="3749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94360" y="91440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imes New Roman"/>
              <a:buNone/>
            </a:pPr>
            <a:r>
              <a:rPr b="1" i="0" lang="en-GB" sz="17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328025"/>
            <a:ext cx="37032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800" spcFirstLastPara="1" rIns="0" wrap="square" tIns="508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Char char="•"/>
            </a:pPr>
            <a:r>
              <a:rPr b="1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Last-mile delivery of goods accounts for </a:t>
            </a:r>
            <a:r>
              <a:rPr b="1" lang="en-GB">
                <a:solidFill>
                  <a:srgbClr val="1B2A4A"/>
                </a:solidFill>
              </a:rPr>
              <a:t>53</a:t>
            </a:r>
            <a:r>
              <a:rPr b="1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% of total supply chain cost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Indiranagar, Bangalore: dense residential + IT corridor = high parcel volume (</a:t>
            </a:r>
            <a:r>
              <a:rPr b="0" i="1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Using synthetic data generated by large language models</a:t>
            </a:r>
            <a:r>
              <a:rPr b="0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Failed deliveries = Huge economic losses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20 candidate locker sites, 621 demand grid cells in 3 km × 3 km area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Research Question: Which 15 sites can be chosen to install Parcel Locker System (PLS) to minimize the total system cost and carbon emission, while maximizing coverage?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754880" y="9144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Times New Roman"/>
              <a:buNone/>
            </a:pPr>
            <a:r>
              <a:rPr b="1" i="0" lang="en-GB" sz="1800" u="none" cap="none" strike="noStrike">
                <a:solidFill>
                  <a:srgbClr val="C9A84C"/>
                </a:solidFill>
                <a:latin typeface="Arial"/>
                <a:ea typeface="Arial"/>
                <a:cs typeface="Arial"/>
                <a:sym typeface="Arial"/>
              </a:rPr>
              <a:t>Our Approach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754875" y="1280150"/>
            <a:ext cx="38406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800" spcFirstLastPara="1" rIns="0" wrap="square" tIns="508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Char char="•"/>
            </a:pPr>
            <a:r>
              <a:rPr b="1" i="0" lang="en-GB" sz="13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Bi-level optimization</a:t>
            </a:r>
            <a:r>
              <a:rPr b="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formulating to minimize cost (upper), carbon emissions and maximize customers’ utility (lower)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Utility function: proximity 45%, safety 25%, transit 20%, flexibility 10%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Char char="•"/>
            </a:pPr>
            <a:r>
              <a:rPr b="1" i="0" lang="en-GB" sz="13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Bipartite Network Analysis</a:t>
            </a:r>
            <a:r>
              <a:rPr b="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using the Dual and Coverage Centrality metrics to evaluate the structural resilience of our proposed sites. This ensures the network remains functional even if a major hub is disrupted by traffic or weather.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Char char="•"/>
            </a:pPr>
            <a:r>
              <a:rPr b="1" i="0" lang="en-GB" sz="13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Discrete-Event Simulation</a:t>
            </a:r>
            <a:r>
              <a:rPr b="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using to validate the optimization model by simulating real-world delivery cycles to quantify the reduction in fuel consumption and CO</a:t>
            </a:r>
            <a:r>
              <a:rPr b="0" baseline="-2500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emissions.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700">
                <a:solidFill>
                  <a:srgbClr val="1B2A4A"/>
                </a:solidFill>
              </a:rPr>
              <a:t>Major </a:t>
            </a:r>
            <a:r>
              <a:rPr b="1" i="0" lang="en-GB" sz="27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Literature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457200" y="992318"/>
            <a:ext cx="82296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Dayal, E., Unnikrishnan, A., Pani, A., &amp; Lakshay. (2025). Optimal Location and Capacity Planning for Parcel Lockers: A Bi-Level Optimization Model. </a:t>
            </a:r>
            <a:r>
              <a:rPr b="1" i="1" lang="en-GB" sz="1500">
                <a:solidFill>
                  <a:srgbClr val="000000"/>
                </a:solidFill>
              </a:rPr>
              <a:t>Transportation Research Record</a:t>
            </a:r>
            <a:r>
              <a:rPr b="1" lang="en-GB" sz="1500">
                <a:solidFill>
                  <a:srgbClr val="000000"/>
                </a:solidFill>
              </a:rPr>
              <a:t>, 2679(5), 968–980.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457200" y="1816505"/>
            <a:ext cx="8229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Sawik, B., Hernandez, A., Muro, A., Faulin, J., 2022. Multi-Criteria Simulation-Optimization Analysis of Usage of Automated Parcel Lockers. </a:t>
            </a:r>
            <a:r>
              <a:rPr b="1" i="1" lang="en-GB" sz="1500">
                <a:solidFill>
                  <a:srgbClr val="000000"/>
                </a:solidFill>
              </a:rPr>
              <a:t>Math.</a:t>
            </a:r>
            <a:r>
              <a:rPr b="1" lang="en-GB" sz="1500">
                <a:solidFill>
                  <a:srgbClr val="000000"/>
                </a:solidFill>
              </a:rPr>
              <a:t> 10(23)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457200" y="2409693"/>
            <a:ext cx="8229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Corradini, R., et al. (2025). Bipartite Network Analysis for Supply Chain Resilience. </a:t>
            </a:r>
            <a:r>
              <a:rPr b="1" i="1" lang="en-GB" sz="1500">
                <a:solidFill>
                  <a:srgbClr val="000000"/>
                </a:solidFill>
              </a:rPr>
              <a:t>Transportation Research Part E</a:t>
            </a:r>
            <a:r>
              <a:rPr b="1" lang="en-GB" sz="1500">
                <a:solidFill>
                  <a:srgbClr val="000000"/>
                </a:solidFill>
              </a:rPr>
              <a:t>, 193, 103852.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457200" y="2926293"/>
            <a:ext cx="8229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Hovi, I. B., &amp; Bø, E. (2024). Unlocking the Potential: How Can Parcel Lockers Drive Efficiency and Environmental Friendliness? </a:t>
            </a:r>
            <a:r>
              <a:rPr b="1" i="1" lang="en-GB" sz="1500">
                <a:solidFill>
                  <a:srgbClr val="000000"/>
                </a:solidFill>
              </a:rPr>
              <a:t>Sustainable Futures</a:t>
            </a:r>
            <a:r>
              <a:rPr b="1" lang="en-GB" sz="1500">
                <a:solidFill>
                  <a:srgbClr val="000000"/>
                </a:solidFill>
              </a:rPr>
              <a:t>, 7, 100189.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457200" y="3596068"/>
            <a:ext cx="8229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Hagberg, A., Swart, P., &amp; Chult, D. (2008). Exploring Network Structure, Dynamics, and Function using NetworkX. </a:t>
            </a:r>
            <a:r>
              <a:rPr b="1" i="1" lang="en-GB" sz="1500">
                <a:solidFill>
                  <a:srgbClr val="000000"/>
                </a:solidFill>
              </a:rPr>
              <a:t>Proc. SciPy 2008</a:t>
            </a:r>
            <a:r>
              <a:rPr b="1" lang="en-GB" sz="1500">
                <a:solidFill>
                  <a:srgbClr val="000000"/>
                </a:solidFill>
              </a:rPr>
              <a:t>, 11–15.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457200" y="4190043"/>
            <a:ext cx="82296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7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What is a Parcel Locker System?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7" title="DHL parcel lock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775" y="897100"/>
            <a:ext cx="4600149" cy="40403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 txBox="1"/>
          <p:nvPr>
            <p:ph idx="12" type="sldNum"/>
          </p:nvPr>
        </p:nvSpPr>
        <p:spPr>
          <a:xfrm>
            <a:off x="8848775" y="4937500"/>
            <a:ext cx="409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639114" y="1021225"/>
            <a:ext cx="1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Definition </a:t>
            </a:r>
            <a:endParaRPr b="1"/>
          </a:p>
        </p:txBody>
      </p:sp>
      <p:sp>
        <p:nvSpPr>
          <p:cNvPr id="90" name="Google Shape;90;p7"/>
          <p:cNvSpPr txBox="1"/>
          <p:nvPr/>
        </p:nvSpPr>
        <p:spPr>
          <a:xfrm>
            <a:off x="624075" y="1380550"/>
            <a:ext cx="3779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Automated postal lockers are self-service parcel boxes that enable users to conveniently send, receive, and return packages while reducing last-mile delivery costs, failed deliveries, and carbon emissions. </a:t>
            </a:r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685705" y="2797574"/>
            <a:ext cx="15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Major Players </a:t>
            </a:r>
            <a:endParaRPr b="1"/>
          </a:p>
        </p:txBody>
      </p:sp>
      <p:sp>
        <p:nvSpPr>
          <p:cNvPr id="92" name="Google Shape;92;p7"/>
          <p:cNvSpPr txBox="1"/>
          <p:nvPr/>
        </p:nvSpPr>
        <p:spPr>
          <a:xfrm>
            <a:off x="639700" y="3122775"/>
            <a:ext cx="3612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DHL – Global logistics leader with extensive parcel locker networks.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InPost – One of Europe’s largest providers of automated parcel machines (APMs).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73125" y="1343200"/>
            <a:ext cx="82296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800" spcFirstLastPara="1" rIns="0" wrap="square" tIns="50800">
            <a:noAutofit/>
          </a:bodyPr>
          <a:lstStyle/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an order is placed online in India, the package goes through several hands; but the last mile is the hardest and most expensive. </a:t>
            </a:r>
            <a:r>
              <a:rPr b="1" i="0" lang="en-GB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movement takes more time,  costs more, and adds unnecessary emissions. 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pinpoints the need for installing parcel lockers where people actually need them.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proceeds with a Research Question: </a:t>
            </a:r>
            <a:r>
              <a:rPr b="1" i="0" lang="en-GB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Can GIS spatial data and delivery patterns be used to determine optimal parcel locker locations, and can this be analytically validated?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aims to develop a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GIS-driven optimisation model,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solve a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multi-objective facility-location problem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minimize cost and carbon emissions. Furthermore conduct a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comparative analysis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respect to doorstep delivery.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94325" y="1206500"/>
            <a:ext cx="82296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800" spcFirstLastPara="1" rIns="0" wrap="square" tIns="50800">
            <a:noAutofit/>
          </a:bodyPr>
          <a:lstStyle/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demand and candidate sites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GIS and secondary data to identify candidate locker locations. For the use case, a residential location in Indiranagar, Bengaluru, is chosen.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synthetic demand data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large language models which is calibrated to real census and land-use inputs.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a bi-level facility-location model 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optimise locker placement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considering cost, carbon emission and customer utility.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</a:t>
            </a:r>
            <a:r>
              <a:rPr b="1" lang="en-GB" sz="20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Parcel demand Intensity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25" y="873400"/>
            <a:ext cx="4345801" cy="40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 txBox="1"/>
          <p:nvPr/>
        </p:nvSpPr>
        <p:spPr>
          <a:xfrm>
            <a:off x="5018450" y="1004700"/>
            <a:ext cx="3908100" cy="3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Peak parcel demand concentrated along the central Indiranagar corridor.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Highest demand zones reach nearly 75 parcels/day per grid cell.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Secondary demand clusters observed near Domlur and HAL Colony.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Peripheral regions show consistently lower parcel activity.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Candidate locker sites aligned closely with major demand hotspots.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Indiranagar Metro corridor emerges as the most critical service zone.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 </a:t>
            </a:r>
            <a:r>
              <a:rPr b="1" lang="en-GB" sz="16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Grid-to-Locker Assignment Network</a:t>
            </a:r>
            <a:r>
              <a:rPr b="1" lang="en-GB" sz="2800">
                <a:solidFill>
                  <a:srgbClr val="1B2A4A"/>
                </a:solidFill>
              </a:rPr>
              <a:t>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5" name="Google Shape;14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25" y="873388"/>
            <a:ext cx="461745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</p:pic>
      <p:sp>
        <p:nvSpPr>
          <p:cNvPr id="146" name="Google Shape;146;p11"/>
          <p:cNvSpPr txBox="1"/>
          <p:nvPr/>
        </p:nvSpPr>
        <p:spPr>
          <a:xfrm>
            <a:off x="5270575" y="960150"/>
            <a:ext cx="36420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Locker assignments form clear and compact service zones.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L03 and L13 handle the highest parcel demand in the network.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Central lockers share demand efficiently in overlapping regions.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Average customer-to-locker distance remains low (~217 m).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Bi-level optimization improves assignment to preferred locker locations.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 </a:t>
            </a:r>
            <a:r>
              <a:rPr b="1" lang="en-GB" sz="1800">
                <a:solidFill>
                  <a:srgbClr val="1B2A4A"/>
                </a:solidFill>
              </a:rPr>
              <a:t>500 m Coverage Feasibility Analysis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9" name="Google Shape;15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25" y="873388"/>
            <a:ext cx="4617477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</p:pic>
      <p:sp>
        <p:nvSpPr>
          <p:cNvPr id="160" name="Google Shape;160;p12"/>
          <p:cNvSpPr txBox="1"/>
          <p:nvPr/>
        </p:nvSpPr>
        <p:spPr>
          <a:xfrm>
            <a:off x="5284600" y="960150"/>
            <a:ext cx="3585900" cy="3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Maximum coverage reaches only 48.9% even with all 20 lockers active.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Large peripheral regions remain uncovered due to lack of nearby candidate sites.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Strong buffer overlap in central Indiranagar indicates service redundancy.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Existing locker distribution heavily favors the central demand corridor.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Improving coverage requires new peripheral sites or relaxed walking thresholds.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</a:t>
            </a:r>
            <a:r>
              <a:rPr b="1" lang="en-GB" sz="19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Locker Resilence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5335100" y="1205725"/>
            <a:ext cx="34926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73400"/>
            <a:ext cx="43814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</p:pic>
      <p:sp>
        <p:nvSpPr>
          <p:cNvPr id="175" name="Google Shape;175;p13"/>
          <p:cNvSpPr txBox="1"/>
          <p:nvPr/>
        </p:nvSpPr>
        <p:spPr>
          <a:xfrm>
            <a:off x="4920400" y="1016175"/>
            <a:ext cx="3992100" cy="3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L11 emerges as the most critical and irreplaceable locker in the network.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Central regions show high redundancy with multiple alternative locker options.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L10, L12, and L18 are critical due to their high demand coverage impact.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Overlapping central lockers provide strong backup support during failures.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Peripheral lockers are less replaceable despite serving lower overall demand.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 </a:t>
            </a:r>
            <a:r>
              <a:rPr b="1" lang="en-GB" sz="17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Discrete-Event Simulation Validation </a:t>
            </a:r>
            <a:endParaRPr i="0" sz="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5335100" y="1205725"/>
            <a:ext cx="34926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73400"/>
            <a:ext cx="8558126" cy="4064099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</p:pic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8512350" y="156213"/>
            <a:ext cx="567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 </a:t>
            </a:r>
            <a:r>
              <a:rPr b="1" lang="en-GB" sz="17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Discrete-Event Simulation Validation </a:t>
            </a:r>
            <a:endParaRPr i="0" sz="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5335100" y="1205725"/>
            <a:ext cx="34926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8512350" y="156213"/>
            <a:ext cx="567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578125" y="1058200"/>
            <a:ext cx="82923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Locker occupancy peaks during the evening pickup window (18:00–21:00).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Peak utilization reaches nearly 86%, indicating near-saturation during high-demand hours.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Morning hours show low occupancy and under-utilization across the network.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Demand coverage decreases steadily as lockers fail sequentially.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The network drops below 90% demand coverage after a single major locker failure.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1B2A4A"/>
                </a:solidFill>
              </a:rPr>
              <a:t>Results Obtained:  </a:t>
            </a:r>
            <a:r>
              <a:rPr b="1" lang="en-GB" sz="1700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Locker Utilization Across Urban Land Use Zones </a:t>
            </a:r>
            <a:endParaRPr i="0" sz="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73125" y="873400"/>
            <a:ext cx="85308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5335100" y="1205725"/>
            <a:ext cx="34926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512350" y="156213"/>
            <a:ext cx="567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7" name="Google Shape;2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25" y="873388"/>
            <a:ext cx="4394700" cy="40641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</p:pic>
      <p:sp>
        <p:nvSpPr>
          <p:cNvPr id="218" name="Google Shape;218;p16"/>
          <p:cNvSpPr txBox="1"/>
          <p:nvPr/>
        </p:nvSpPr>
        <p:spPr>
          <a:xfrm>
            <a:off x="5004450" y="1002150"/>
            <a:ext cx="3922200" cy="3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Most fully saturated lockers are concentrated in commercial and mixed-use zones.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Residential-area lockers show comparatively moderate utilization levels.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Commercial corridors generate the highest parcel demand density in the network.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L01, L03, and L13 emerge as priority sites for future capacity upgrades.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Institutional-area lockers show moderate usage compared to metro-adjacent lockers.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548650" y="1645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Methodology    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57200" y="804675"/>
            <a:ext cx="297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1400"/>
              <a:buFont typeface="Times New Roman"/>
              <a:buNone/>
            </a:pPr>
            <a:r>
              <a:rPr b="0" i="1" lang="en-GB" u="none" cap="none" strike="noStrike">
                <a:solidFill>
                  <a:srgbClr val="5A6A82"/>
                </a:solidFill>
                <a:latin typeface="Arial"/>
                <a:ea typeface="Arial"/>
                <a:cs typeface="Arial"/>
                <a:sym typeface="Arial"/>
              </a:rPr>
              <a:t>Bi-Level Optimization Framework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475371" y="107569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Times New Roman"/>
              <a:buNone/>
            </a:pPr>
            <a:r>
              <a:rPr b="1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UPPER LEVEL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1843054" y="1062225"/>
            <a:ext cx="18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i="1" lang="en-GB">
                <a:solidFill>
                  <a:schemeClr val="dk1"/>
                </a:solidFill>
              </a:rPr>
              <a:t>(</a:t>
            </a:r>
            <a:r>
              <a:rPr b="0" i="1" lang="en-GB" sz="14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 Decision)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-13" y="3218675"/>
            <a:ext cx="9144000" cy="1910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F0"/>
              </a:buClr>
              <a:buSzPts val="12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4" name="Google Shape;2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38" y="1464438"/>
            <a:ext cx="3762075" cy="1030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913" y="3245925"/>
            <a:ext cx="8185851" cy="158115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</p:pic>
      <p:sp>
        <p:nvSpPr>
          <p:cNvPr id="236" name="Google Shape;236;p17"/>
          <p:cNvSpPr txBox="1"/>
          <p:nvPr/>
        </p:nvSpPr>
        <p:spPr>
          <a:xfrm>
            <a:off x="4901996" y="812050"/>
            <a:ext cx="110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to: 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6572912" y="1124786"/>
            <a:ext cx="237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(1) A locker type can only be selected if the locker site is opened.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6555246" y="1577738"/>
            <a:ext cx="2377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(2) Total installed locker capacity must satisfy total parcel demand.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6561153" y="2099263"/>
            <a:ext cx="2271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(3) Binary variable for locker opening decision.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0800" y="1124775"/>
            <a:ext cx="1822125" cy="9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152625"/>
            <a:ext cx="1933000" cy="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 txBox="1"/>
          <p:nvPr/>
        </p:nvSpPr>
        <p:spPr>
          <a:xfrm>
            <a:off x="6566987" y="2470424"/>
            <a:ext cx="22185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(4) Binary variable for locker type selection.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48650" y="1645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Methodology    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57200" y="804675"/>
            <a:ext cx="426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1400"/>
              <a:buFont typeface="Times New Roman"/>
              <a:buNone/>
            </a:pPr>
            <a:r>
              <a:rPr b="0" i="1" lang="en-GB" sz="1600" u="none" cap="none" strike="noStrike">
                <a:solidFill>
                  <a:srgbClr val="5A6A82"/>
                </a:solidFill>
                <a:latin typeface="Arial"/>
                <a:ea typeface="Arial"/>
                <a:cs typeface="Arial"/>
                <a:sym typeface="Arial"/>
              </a:rPr>
              <a:t>Bi-Level Optimization Framework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48651" y="1101500"/>
            <a:ext cx="226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Times New Roman"/>
              <a:buNone/>
            </a:pPr>
            <a:r>
              <a:rPr b="1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LOWER LEVEL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960104" y="1118210"/>
            <a:ext cx="202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i="1" lang="en-GB">
                <a:solidFill>
                  <a:schemeClr val="dk1"/>
                </a:solidFill>
              </a:rPr>
              <a:t>(</a:t>
            </a:r>
            <a:r>
              <a:rPr b="0" i="1" lang="en-GB" sz="14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Response)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0" y="3355550"/>
            <a:ext cx="9144000" cy="17256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F0"/>
              </a:buClr>
              <a:buSzPts val="12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8" name="Google Shape;2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88" y="1438370"/>
            <a:ext cx="4174175" cy="74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/>
          <p:nvPr/>
        </p:nvSpPr>
        <p:spPr>
          <a:xfrm>
            <a:off x="5107150" y="812050"/>
            <a:ext cx="110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to: 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150" y="1183098"/>
            <a:ext cx="3449619" cy="213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725" y="2209446"/>
            <a:ext cx="4174175" cy="11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625" y="3366051"/>
            <a:ext cx="7858125" cy="1387925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/>
          <p:nvPr/>
        </p:nvSpPr>
        <p:spPr>
          <a:xfrm>
            <a:off x="5391323" y="2181227"/>
            <a:ext cx="3285000" cy="1265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demand is lost if the particular locker goes down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Methodology (</a:t>
            </a: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Corradini, et al., (2025)</a:t>
            </a: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457200" y="80467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1400"/>
              <a:buFont typeface="Times New Roman"/>
              <a:buNone/>
            </a:pPr>
            <a:r>
              <a:rPr b="0" i="1" lang="en-GB" sz="2200" u="none" cap="none" strike="noStrike">
                <a:solidFill>
                  <a:srgbClr val="5A6A82"/>
                </a:solidFill>
                <a:latin typeface="Arial"/>
                <a:ea typeface="Arial"/>
                <a:cs typeface="Arial"/>
                <a:sym typeface="Arial"/>
              </a:rPr>
              <a:t>Bipartite Network Analysis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402024" y="804699"/>
            <a:ext cx="3285000" cy="1265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 many grids have particular locker as their only option</a:t>
            </a:r>
            <a:endParaRPr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5402025" y="8046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Centrality (</a:t>
            </a: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0" lang="en-GB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5452375" y="21812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Centrality(CC)</a:t>
            </a:r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457200" y="1188925"/>
            <a:ext cx="470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K=15 MILP solution tells us where to place lockers under normal conditions but not what happens when one fails. So we modelled the network as a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bipartite graph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325 demand grids on one side, 20 locker sites on the other, edges connecting pairs within the 500 m walk limit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Lockers were then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one by one in worst-case order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(highest CC first), re-solving demand allocation after each removal to track exactly when coverage drops below 90% and 80%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3" name="Google Shape;2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925450"/>
            <a:ext cx="2705906" cy="57512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9"/>
          <p:cNvSpPr txBox="1"/>
          <p:nvPr/>
        </p:nvSpPr>
        <p:spPr>
          <a:xfrm>
            <a:off x="3848150" y="3868300"/>
            <a:ext cx="43881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aseline="-25000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reach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(325 demand grids)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 locker sites)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set of feasible edges (pairs (g, l) with d</a:t>
            </a:r>
            <a:r>
              <a:rPr baseline="-25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g,l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500 m)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weight is: 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g,l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=N</a:t>
            </a:r>
            <a:r>
              <a:rPr baseline="-25000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 U</a:t>
            </a:r>
            <a:r>
              <a:rPr baseline="-25000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g,l   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457200" y="164600"/>
            <a:ext cx="842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imes New Roman"/>
              <a:buNone/>
            </a:pPr>
            <a:r>
              <a:rPr b="1" i="0" lang="en-GB" sz="2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b="1" i="0" lang="en-GB" sz="2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Sawik, et al., (2022)</a:t>
            </a:r>
            <a:r>
              <a:rPr b="1" i="0" lang="en-GB" sz="2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457200" y="80467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1400"/>
              <a:buFont typeface="Times New Roman"/>
              <a:buNone/>
            </a:pPr>
            <a:r>
              <a:rPr i="1" lang="en-GB" sz="1900" u="none" cap="none" strike="noStrike">
                <a:solidFill>
                  <a:srgbClr val="5A6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event simulation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5402025" y="8046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Dual Centrality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457200" y="1188925"/>
            <a:ext cx="451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alidate the slot turnover assumption r = 3 and measure first-attempt delivery success rates.</a:t>
            </a:r>
            <a:endParaRPr b="1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24725" y="1768575"/>
            <a:ext cx="44457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models 17 open lockers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K=15 MILP solution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16-hour operational day (06:00–22:00, 960 minutes) with 50 independent replications.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  </a:t>
            </a:r>
            <a:r>
              <a:rPr b="1" lang="en-GB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concurrent SimPy processes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delivery process (Arrivals as a non-homogeneous Poisson 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process)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pickup process(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 proportional to current occupancy with a 3× evening peak multiplier from 18:00–21:00)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process (occupancy snapshots every 15 minutes)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5048325" y="804700"/>
            <a:ext cx="3638400" cy="4021500"/>
          </a:xfrm>
          <a:prstGeom prst="rect">
            <a:avLst/>
          </a:prstGeom>
          <a:solidFill>
            <a:srgbClr val="D0DCF0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5099850" y="846950"/>
            <a:ext cx="3539400" cy="3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 Process: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Pickup Process: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Metrics and Validation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275" y="893047"/>
            <a:ext cx="1876975" cy="7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300" y="2193763"/>
            <a:ext cx="2766725" cy="7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0"/>
          <p:cNvPicPr preferRelativeResize="0"/>
          <p:nvPr/>
        </p:nvPicPr>
        <p:blipFill rotWithShape="1">
          <a:blip r:embed="rId5">
            <a:alphaModFix/>
          </a:blip>
          <a:srcRect b="7108" l="8335" r="13910" t="-4745"/>
          <a:stretch/>
        </p:blipFill>
        <p:spPr>
          <a:xfrm>
            <a:off x="6018288" y="3130075"/>
            <a:ext cx="2000741" cy="166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516637" y="183882"/>
            <a:ext cx="52011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K-Sensitivity Analysis  (Phase 1, r = 3) </a:t>
            </a:r>
            <a:endParaRPr b="1" sz="20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899682"/>
            <a:ext cx="4343587" cy="409141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4923175" y="1000950"/>
            <a:ext cx="3924900" cy="3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ceiling is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52.3% regardless of K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- 296 grids have no candidate site within 500 m, so adding more lockers from the same set changes nothing.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15 is the cost-efficiency elbow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marginal cost per parcel rises from ₹39.6 to ₹40.1 beyond K = 15, making K = 20 a case of diminishing returns.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Solver chose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Large-type lockers exclusively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all three scenarios best cost-per-slot ratio wins every time.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395975" y="1168925"/>
            <a:ext cx="39192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L11 (Binnamangala)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most structurally irreplaceable 24 peripheral grids have it as their only locker within 500 m, closure creates an immediate service void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L12, L10, and L18 are doubly critical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high DC and high CC simultaneously, making them priority-maintenance sites that should never close without mobile backup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30.2% of reachable grids have only one locker option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nearly a third of the covered area is one failure away from losing service entirely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785000" y="1168925"/>
            <a:ext cx="39018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L03, L10, L13, and L15 each carry 7.4% of baseline demand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removing any one of them causes immediate overflow as every neighbouring locker is already at full capacity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 and CC reveal two different types of criticality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peripheral lockers fail by structure (no alternatives nearby), central lockers fail by capacity (alternatives exist but are saturated)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can absorb only 1 simultaneous failure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dropping below 90% coverage  removing just L03 drops it from 100% to 92.6%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2"/>
          <p:cNvCxnSpPr/>
          <p:nvPr/>
        </p:nvCxnSpPr>
        <p:spPr>
          <a:xfrm>
            <a:off x="4612657" y="1361554"/>
            <a:ext cx="0" cy="32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2"/>
          <p:cNvSpPr txBox="1"/>
          <p:nvPr/>
        </p:nvSpPr>
        <p:spPr>
          <a:xfrm>
            <a:off x="628975" y="805050"/>
            <a:ext cx="3686100" cy="3936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Centrality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4880225" y="805050"/>
            <a:ext cx="3735000" cy="3936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Centrality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513700" y="237825"/>
            <a:ext cx="3919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Bipartite Network Analysis</a:t>
            </a:r>
            <a:endParaRPr sz="20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4" name="Google Shape;3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00" y="1042775"/>
            <a:ext cx="4586050" cy="26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3"/>
          <p:cNvSpPr txBox="1"/>
          <p:nvPr/>
        </p:nvSpPr>
        <p:spPr>
          <a:xfrm>
            <a:off x="514900" y="195025"/>
            <a:ext cx="4184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504187" y="269925"/>
            <a:ext cx="37683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Disruption Curve Visualisation</a:t>
            </a:r>
            <a:endParaRPr sz="2100">
              <a:solidFill>
                <a:srgbClr val="073763"/>
              </a:solidFill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5051450" y="965600"/>
            <a:ext cx="37683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tolerates 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1 simultaneous failure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removing the single highest-impact locker (L03) immediately drops demand coverage from 100% to 92.6%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loss is 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predictable until it isn't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steady 7% drop per locker from 17 down to 9, then collapses sharply as peripheral sites get overwhelmed by rerouted demand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 coverage is more resilient than demand coverage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at 10 lockers remaining, 85% of grids still have access but demand served has already fallen sharply, because peripheral grids are low-volume but structurally isolated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727750" y="3972900"/>
            <a:ext cx="44307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safe threshold is 16 of 17 lockers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below this the network breaches 90% demand coverage, and below 15 it breaches 80%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5019350" y="842800"/>
            <a:ext cx="40233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assumed turnover of </a:t>
            </a: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3 was wrong by 72%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simulation found reff = 1.746, lockers simply don't free up slots fast enough to reuse them 3 times a day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Evening demand is the culprit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36.7% of parcels arrive in just a 2-hour window, slots fill faster than customers collect, and 12 of 17 lockers hit near-full by 19:00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First-attempt success of 79.3% misses the 90% target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271 parcels overflow daily with nowhere to go, adding 113.8 kg of unnecessary CO₂ from re-deliveries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Mornings are wasted, evenings are overwhelmed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occupancy stays below 35% before 15:00 then breaches the safe upper limit by 19:00, a demand timing problem, not a capacity problem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892925"/>
            <a:ext cx="4594262" cy="32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516637" y="183882"/>
            <a:ext cx="52011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K-Sensitivity Analysis  (Phase 4, r = 1.75) </a:t>
            </a:r>
            <a:endParaRPr b="1" sz="20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75" y="857950"/>
            <a:ext cx="4504425" cy="27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5"/>
          <p:cNvSpPr txBox="1"/>
          <p:nvPr/>
        </p:nvSpPr>
        <p:spPr>
          <a:xfrm>
            <a:off x="4969975" y="911900"/>
            <a:ext cx="39132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 adoption is infeasible at current scale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even with all 20 lockers open, maximum throughput is only 1,225 parcels/day, covering just 32.6% of reachable demand at 20% adoption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Recommended configuration: K = 20, all Large type, at 10% adoption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delivers 48.9% demand coverage, 85.3% FAR (closest achievable to the 90% target), and 80.2% top-2 preference satisfaction at a fixed cost of ₹74.1L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type wins at every site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best cost-per-slot ratio at ₹5,700–6,200 versus ₹7,125 for Small and Medium, so the solver picks Large exclusively across all scenarios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426750" y="3809325"/>
            <a:ext cx="43233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of 20 lockers are already fully saturated at just 10% adoption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in commercial zones along 100 Feet Road and CMH Road, confirming that capacity expansion in the central corridor is the most urgent operational priority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4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57200" y="7132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529796" y="123800"/>
            <a:ext cx="436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3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529800" y="861350"/>
            <a:ext cx="8027100" cy="4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Corrected model recommends all 20 lockers, Large type, at 10% adoption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delivers 48.9% coverage, 85.3% FAR, and an estimated 825 tonnes CO₂ saved per year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is fragile at the periphery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one failure drops coverage below 90%. L10, L12, and L18 are doubly critical (high DC + high CC) and must be priority-maintenance sites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assumed turnover of r = 3 was wrong by 72%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simulation found reff = 1.746. Evening demand concentration, overnight carryover, and peak saturation are the culprits. First-attempt success at 79.3% misses the 90% target.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is corridor-driven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100 Feet Road–CMH Road is the spine. 7 of 20 lockers saturate at 10% adoption, all in commercial zones. Two new sites near Ulsoor would close the northern coverage gap.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57200" y="9439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492196" y="373663"/>
            <a:ext cx="436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expansions planned:</a:t>
            </a:r>
            <a:endParaRPr b="1" sz="23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366875" y="1048200"/>
            <a:ext cx="8547300" cy="3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locker architecture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replace fixed S/M/L types with demand-adaptive units where compartment count scales dynamically; study InPost's APM design for integration into the current MILP framework.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data pipeline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partner with an operator (Delhivery, Bluedart, or Amazon India) to replace synthetic demand with GPS-traced delivery data, directly improving the demand surface, preference index, and turnover calibration.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and incentive modelling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extend the lower-level model with a price-sensitivity term so locker adoption becomes an endogenous output rather than a fixed input, making the Stackelberg game behaviourally realistic and publishable.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457200" y="3952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References: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457200" y="9439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485850" y="1157050"/>
            <a:ext cx="8172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Dayal, E., Unnikrishnan, A., Pani, A., Lakshay, 2025. Optimal location and capacity planning for parcel lockers: A bi-level optimization model considering planners’ and customers’ perspectives. Transp. Res. Rec. 2679 (5), 968–980.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Corradini, R., Castellini, D., Perego, G., 2025. Bipartite network analysis for supply chain resilience in last-mile logistics. Transp. Res. E Logist. Transp. Rev. 193, p. 103852.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Sawik, B., Hernandez, A., Muro, A., Faulin, J., 2022. Multi-Criteria Simulation-Optimization Analysis of Usage of Automated Parcel Lockers: A Practical Approach. Math. 10(23).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Hovi, I. B., &amp; Bø, E. (2024). Unlocking the Potential: How Can Parcel Lockers Drive Efficiency and Environmental Friendliness? 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Futures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7, 100189.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457200" y="3952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References: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457200" y="9439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485850" y="1266100"/>
            <a:ext cx="81723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Hagberg, A., Swart, P., &amp; Chult, D. (2008). Exploring Network Structure, Dynamics, and Function using NetworkX. 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SciPy 2008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11–15.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Vakulenko, Y., Hellström, D., Hjort, K., 2018. What’s in the parcel locker? Exploring customer value in e-commerce last mile delivery. J. Bus. Res. 88, 421–427.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Moslem, S., Pilla, F., 2023. A hybrid decision making support method for parcel lockers location selection. Res. Transp. Econ. 100, 101320.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Campisi, T., Di Ruocco, I., 2025. Accessibility and spatial location of parcel lockers in last-mile delivery: A literature review. Open Transp. J. 19, e26671212391037.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0" y="73152"/>
            <a:ext cx="228600" cy="4997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457200" y="3952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457200" y="943932"/>
            <a:ext cx="8229600" cy="27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485850" y="1099896"/>
            <a:ext cx="81723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Lachapelle, U., Burke, M., Brotherton, A., Leung, A., 2018. Parcel locker systems in a car dominant city: Location, characterisation and potential impacts on city planning and consumer travel access. J. Transp. Geogr. 71, 1–14.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Zhang, Q., Demir, E., 2025. Parcel locker solutions for last mile delivery: A systematic literature review and future research directions. Front. Future Transp. 6, 165462.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/>
        </p:nvSpPr>
        <p:spPr>
          <a:xfrm>
            <a:off x="2312400" y="2290200"/>
            <a:ext cx="45192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GB" sz="4000" u="none" cap="none" strike="noStrike">
                <a:solidFill>
                  <a:srgbClr val="FFF8F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000" u="none" cap="none" strike="noStrike">
              <a:solidFill>
                <a:srgbClr val="FFF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